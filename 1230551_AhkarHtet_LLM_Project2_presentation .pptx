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elegraf Bold" charset="1" panose="00000800000000000000"/>
      <p:regular r:id="rId19"/>
    </p:embeddedFont>
    <p:embeddedFont>
      <p:font typeface="Be Vietnam" charset="1" panose="00000500000000000000"/>
      <p:regular r:id="rId20"/>
    </p:embeddedFont>
    <p:embeddedFont>
      <p:font typeface="Be Vietnam Ultra-Bold" charset="1" panose="00000900000000000000"/>
      <p:regular r:id="rId21"/>
    </p:embeddedFont>
    <p:embeddedFont>
      <p:font typeface="Telegraf" charset="1" panose="00000500000000000000"/>
      <p:regular r:id="rId22"/>
    </p:embeddedFont>
    <p:embeddedFont>
      <p:font typeface="File" charset="1" panose="02000000000000000000"/>
      <p:regular r:id="rId23"/>
    </p:embeddedFont>
    <p:embeddedFont>
      <p:font typeface="Be Vietnam Ultra-Bold Italics" charset="1" panose="000009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363599" y="5806717"/>
            <a:ext cx="4116684" cy="4843882"/>
          </a:xfrm>
          <a:custGeom>
            <a:avLst/>
            <a:gdLst/>
            <a:ahLst/>
            <a:cxnLst/>
            <a:rect r="r" b="b" t="t" l="l"/>
            <a:pathLst>
              <a:path h="4843882" w="4116684">
                <a:moveTo>
                  <a:pt x="0" y="0"/>
                </a:moveTo>
                <a:lnTo>
                  <a:pt x="4116684" y="0"/>
                </a:lnTo>
                <a:lnTo>
                  <a:pt x="4116684" y="4843882"/>
                </a:lnTo>
                <a:lnTo>
                  <a:pt x="0" y="4843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3807717" y="-363599"/>
            <a:ext cx="4116684" cy="4843882"/>
          </a:xfrm>
          <a:custGeom>
            <a:avLst/>
            <a:gdLst/>
            <a:ahLst/>
            <a:cxnLst/>
            <a:rect r="r" b="b" t="t" l="l"/>
            <a:pathLst>
              <a:path h="4843882" w="4116684">
                <a:moveTo>
                  <a:pt x="0" y="0"/>
                </a:moveTo>
                <a:lnTo>
                  <a:pt x="4116684" y="0"/>
                </a:lnTo>
                <a:lnTo>
                  <a:pt x="4116684" y="4843882"/>
                </a:lnTo>
                <a:lnTo>
                  <a:pt x="0" y="48438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794" y="599224"/>
            <a:ext cx="16559569" cy="221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5"/>
              </a:lnSpc>
            </a:pPr>
            <a:r>
              <a:rPr lang="en-US" sz="8044" b="true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LLM-Based Sentiment Analysis  Project Presentation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1822414" y="2247160"/>
            <a:ext cx="5436886" cy="7531617"/>
          </a:xfrm>
          <a:custGeom>
            <a:avLst/>
            <a:gdLst/>
            <a:ahLst/>
            <a:cxnLst/>
            <a:rect r="r" b="b" t="t" l="l"/>
            <a:pathLst>
              <a:path h="7531617" w="5436886">
                <a:moveTo>
                  <a:pt x="5436886" y="0"/>
                </a:moveTo>
                <a:lnTo>
                  <a:pt x="0" y="0"/>
                </a:lnTo>
                <a:lnTo>
                  <a:pt x="0" y="7531618"/>
                </a:lnTo>
                <a:lnTo>
                  <a:pt x="5436886" y="7531618"/>
                </a:lnTo>
                <a:lnTo>
                  <a:pt x="543688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63754" y="7742398"/>
            <a:ext cx="4180246" cy="1515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51"/>
              </a:lnSpc>
            </a:pPr>
            <a:r>
              <a:rPr lang="en-US" sz="410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Present By</a:t>
            </a:r>
          </a:p>
          <a:p>
            <a:pPr algn="just">
              <a:lnSpc>
                <a:spcPts val="6496"/>
              </a:lnSpc>
            </a:pPr>
            <a:r>
              <a:rPr lang="en-US" sz="464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      </a:t>
            </a:r>
            <a:r>
              <a:rPr lang="en-US" sz="4640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Ahkar htet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794" y="3305895"/>
            <a:ext cx="11743619" cy="153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71"/>
              </a:lnSpc>
            </a:pPr>
            <a:r>
              <a:rPr lang="en-US" sz="4408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INFO-6153 Natural Language Proessing 2</a:t>
            </a:r>
          </a:p>
          <a:p>
            <a:pPr algn="just">
              <a:lnSpc>
                <a:spcPts val="617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7073711" y="4978745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8509" y="1774347"/>
            <a:ext cx="10961075" cy="721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33"/>
              </a:lnSpc>
            </a:pPr>
            <a:r>
              <a:rPr lang="en-US" sz="3309" b="true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1. Dataset Preparation</a:t>
            </a:r>
          </a:p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4AAD"/>
                </a:solidFill>
                <a:latin typeface="Telegraf"/>
                <a:ea typeface="Telegraf"/>
                <a:cs typeface="Telegraf"/>
                <a:sym typeface="Telegraf"/>
              </a:rPr>
              <a:t>Dataset source and label generation</a:t>
            </a:r>
          </a:p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4AAD"/>
                </a:solidFill>
                <a:latin typeface="Telegraf"/>
                <a:ea typeface="Telegraf"/>
                <a:cs typeface="Telegraf"/>
                <a:sym typeface="Telegraf"/>
              </a:rPr>
              <a:t>Cleaning steps and word cloud visualization</a:t>
            </a:r>
          </a:p>
          <a:p>
            <a:pPr algn="just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4AAD"/>
                </a:solidFill>
                <a:latin typeface="Telegraf"/>
                <a:ea typeface="Telegraf"/>
                <a:cs typeface="Telegraf"/>
                <a:sym typeface="Telegraf"/>
              </a:rPr>
              <a:t>Sampl</a:t>
            </a:r>
            <a:r>
              <a:rPr lang="en-US" sz="2699">
                <a:solidFill>
                  <a:srgbClr val="004AAD"/>
                </a:solidFill>
                <a:latin typeface="Telegraf"/>
                <a:ea typeface="Telegraf"/>
                <a:cs typeface="Telegraf"/>
                <a:sym typeface="Telegraf"/>
              </a:rPr>
              <a:t>e limitation and train-validation split</a:t>
            </a:r>
          </a:p>
          <a:p>
            <a:pPr algn="just">
              <a:lnSpc>
                <a:spcPts val="4633"/>
              </a:lnSpc>
            </a:pPr>
            <a:r>
              <a:rPr lang="en-US" sz="3309" b="true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2.Model Implementation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4AAD"/>
                </a:solidFill>
                <a:latin typeface="Telegraf"/>
                <a:ea typeface="Telegraf"/>
                <a:cs typeface="Telegraf"/>
                <a:sym typeface="Telegraf"/>
              </a:rPr>
              <a:t>L</a:t>
            </a:r>
            <a:r>
              <a:rPr lang="en-US" sz="2700">
                <a:solidFill>
                  <a:srgbClr val="004AAD"/>
                </a:solidFill>
                <a:latin typeface="Telegraf"/>
                <a:ea typeface="Telegraf"/>
                <a:cs typeface="Telegraf"/>
                <a:sym typeface="Telegraf"/>
              </a:rPr>
              <a:t>oad LLaMA-2 7B (quantized) with authentication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4AAD"/>
                </a:solidFill>
                <a:latin typeface="Telegraf"/>
                <a:ea typeface="Telegraf"/>
                <a:cs typeface="Telegraf"/>
                <a:sym typeface="Telegraf"/>
              </a:rPr>
              <a:t>Inject LoRA adapters into attention layers</a:t>
            </a:r>
          </a:p>
          <a:p>
            <a:pPr algn="just">
              <a:lnSpc>
                <a:spcPts val="4633"/>
              </a:lnSpc>
            </a:pPr>
            <a:r>
              <a:rPr lang="en-US" sz="3309" b="true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3.Training Configuration &amp; Fine-Tuning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4AAD"/>
                </a:solidFill>
                <a:latin typeface="Telegraf"/>
                <a:ea typeface="Telegraf"/>
                <a:cs typeface="Telegraf"/>
                <a:sym typeface="Telegraf"/>
              </a:rPr>
              <a:t>Training arguments setup and Trainer initialization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4AAD"/>
                </a:solidFill>
                <a:latin typeface="Telegraf"/>
                <a:ea typeface="Telegraf"/>
                <a:cs typeface="Telegraf"/>
                <a:sym typeface="Telegraf"/>
              </a:rPr>
              <a:t> LoRA-based fine-tuning using Hugging Face Trainer</a:t>
            </a:r>
          </a:p>
          <a:p>
            <a:pPr algn="just">
              <a:lnSpc>
                <a:spcPts val="4633"/>
              </a:lnSpc>
            </a:pPr>
            <a:r>
              <a:rPr lang="en-US" sz="3309" b="true">
                <a:solidFill>
                  <a:srgbClr val="004AAD"/>
                </a:solidFill>
                <a:latin typeface="Telegraf Bold"/>
                <a:ea typeface="Telegraf Bold"/>
                <a:cs typeface="Telegraf Bold"/>
                <a:sym typeface="Telegraf Bold"/>
              </a:rPr>
              <a:t>4.Evaluation on Live Data &amp; Visualization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4AAD"/>
                </a:solidFill>
                <a:latin typeface="Telegraf"/>
                <a:ea typeface="Telegraf"/>
                <a:cs typeface="Telegraf"/>
                <a:sym typeface="Telegraf"/>
              </a:rPr>
              <a:t>Fetch </a:t>
            </a:r>
            <a:r>
              <a:rPr lang="en-US" sz="2700">
                <a:solidFill>
                  <a:srgbClr val="004AAD"/>
                </a:solidFill>
                <a:latin typeface="Telegraf"/>
                <a:ea typeface="Telegraf"/>
                <a:cs typeface="Telegraf"/>
                <a:sym typeface="Telegraf"/>
              </a:rPr>
              <a:t>real-time Tesla news using NewsAPI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4AAD"/>
                </a:solidFill>
                <a:latin typeface="Telegraf"/>
                <a:ea typeface="Telegraf"/>
                <a:cs typeface="Telegraf"/>
                <a:sym typeface="Telegraf"/>
              </a:rPr>
              <a:t>Visualize loss comparisons and summarize results</a:t>
            </a:r>
          </a:p>
          <a:p>
            <a:pPr algn="just">
              <a:lnSpc>
                <a:spcPts val="463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58509" y="329663"/>
            <a:ext cx="7848159" cy="1254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30"/>
              </a:lnSpc>
              <a:spcBef>
                <a:spcPct val="0"/>
              </a:spcBef>
            </a:pPr>
            <a:r>
              <a:rPr lang="en-US" sz="9156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Age</a:t>
            </a:r>
            <a:r>
              <a:rPr lang="en-US" b="true" sz="9156" strike="noStrike" u="non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719584" y="0"/>
            <a:ext cx="6568416" cy="10389870"/>
            <a:chOff x="0" y="0"/>
            <a:chExt cx="1017619" cy="16096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7619" cy="1609663"/>
            </a:xfrm>
            <a:custGeom>
              <a:avLst/>
              <a:gdLst/>
              <a:ahLst/>
              <a:cxnLst/>
              <a:rect r="r" b="b" t="t" l="l"/>
              <a:pathLst>
                <a:path h="1609663" w="1017619">
                  <a:moveTo>
                    <a:pt x="27109" y="0"/>
                  </a:moveTo>
                  <a:lnTo>
                    <a:pt x="990510" y="0"/>
                  </a:lnTo>
                  <a:cubicBezTo>
                    <a:pt x="997700" y="0"/>
                    <a:pt x="1004595" y="2856"/>
                    <a:pt x="1009679" y="7940"/>
                  </a:cubicBezTo>
                  <a:cubicBezTo>
                    <a:pt x="1014763" y="13024"/>
                    <a:pt x="1017619" y="19919"/>
                    <a:pt x="1017619" y="27109"/>
                  </a:cubicBezTo>
                  <a:lnTo>
                    <a:pt x="1017619" y="1582554"/>
                  </a:lnTo>
                  <a:cubicBezTo>
                    <a:pt x="1017619" y="1589743"/>
                    <a:pt x="1014763" y="1596639"/>
                    <a:pt x="1009679" y="1601723"/>
                  </a:cubicBezTo>
                  <a:cubicBezTo>
                    <a:pt x="1004595" y="1606807"/>
                    <a:pt x="997700" y="1609663"/>
                    <a:pt x="990510" y="1609663"/>
                  </a:cubicBezTo>
                  <a:lnTo>
                    <a:pt x="27109" y="1609663"/>
                  </a:lnTo>
                  <a:cubicBezTo>
                    <a:pt x="19919" y="1609663"/>
                    <a:pt x="13024" y="1606807"/>
                    <a:pt x="7940" y="1601723"/>
                  </a:cubicBezTo>
                  <a:cubicBezTo>
                    <a:pt x="2856" y="1596639"/>
                    <a:pt x="0" y="1589743"/>
                    <a:pt x="0" y="1582554"/>
                  </a:cubicBezTo>
                  <a:lnTo>
                    <a:pt x="0" y="27109"/>
                  </a:lnTo>
                  <a:cubicBezTo>
                    <a:pt x="0" y="19919"/>
                    <a:pt x="2856" y="13024"/>
                    <a:pt x="7940" y="7940"/>
                  </a:cubicBezTo>
                  <a:cubicBezTo>
                    <a:pt x="13024" y="2856"/>
                    <a:pt x="19919" y="0"/>
                    <a:pt x="27109" y="0"/>
                  </a:cubicBezTo>
                  <a:close/>
                </a:path>
              </a:pathLst>
            </a:custGeom>
            <a:blipFill>
              <a:blip r:embed="rId4"/>
              <a:stretch>
                <a:fillRect l="-98702" t="-22289" r="-7486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591801" y="6234015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89879" y="178418"/>
            <a:ext cx="5140515" cy="6048570"/>
          </a:xfrm>
          <a:custGeom>
            <a:avLst/>
            <a:gdLst/>
            <a:ahLst/>
            <a:cxnLst/>
            <a:rect r="r" b="b" t="t" l="l"/>
            <a:pathLst>
              <a:path h="6048570" w="5140515">
                <a:moveTo>
                  <a:pt x="0" y="0"/>
                </a:moveTo>
                <a:lnTo>
                  <a:pt x="5140515" y="0"/>
                </a:lnTo>
                <a:lnTo>
                  <a:pt x="5140515" y="6048570"/>
                </a:lnTo>
                <a:lnTo>
                  <a:pt x="0" y="604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8445" y="1555810"/>
            <a:ext cx="9743639" cy="7203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38"/>
              </a:lnSpc>
            </a:pPr>
            <a:r>
              <a:rPr lang="en-US" sz="2670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Project Summary</a:t>
            </a: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37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This project explores the use of a fine-tuned LLaMA-2 model to predict sentiment scores from Tesla-related tweets and live news articles. 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738"/>
              </a:lnSpc>
            </a:pPr>
            <a:r>
              <a:rPr lang="en-US" b="true" sz="2670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Objective</a:t>
            </a:r>
          </a:p>
          <a:p>
            <a:pPr algn="just">
              <a:lnSpc>
                <a:spcPts val="3318"/>
              </a:lnSpc>
            </a:pPr>
            <a:r>
              <a:rPr lang="en-US" sz="237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To fine-tune a 4-bit quantized LLaMA-2 model using LoRA to generate accurate sentiment scores (0–100%) and apply these outputs to improve Tesla stock price prediction.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  <a:r>
              <a:rPr lang="en-US" b="true" sz="2370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Key Goals:</a:t>
            </a:r>
          </a:p>
          <a:p>
            <a:pPr algn="just" marL="511691" indent="-255846" lvl="1">
              <a:lnSpc>
                <a:spcPts val="3318"/>
              </a:lnSpc>
              <a:buFont typeface="Arial"/>
              <a:buChar char="•"/>
            </a:pPr>
            <a:r>
              <a:rPr lang="en-US" sz="237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Generate sentiment labels using DistilBERT</a:t>
            </a:r>
          </a:p>
          <a:p>
            <a:pPr algn="just" marL="511691" indent="-255846" lvl="1">
              <a:lnSpc>
                <a:spcPts val="3318"/>
              </a:lnSpc>
              <a:buFont typeface="Arial"/>
              <a:buChar char="•"/>
            </a:pPr>
            <a:r>
              <a:rPr lang="en-US" sz="237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Fine-tune LLaMA-2 with LoRA for efficient training</a:t>
            </a:r>
          </a:p>
          <a:p>
            <a:pPr algn="just" marL="511691" indent="-255846" lvl="1">
              <a:lnSpc>
                <a:spcPts val="3318"/>
              </a:lnSpc>
              <a:buFont typeface="Arial"/>
              <a:buChar char="•"/>
            </a:pPr>
            <a:r>
              <a:rPr lang="en-US" sz="237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Evaluate on live news articles from NewsAPI</a:t>
            </a:r>
          </a:p>
          <a:p>
            <a:pPr algn="just" marL="511691" indent="-255846" lvl="1">
              <a:lnSpc>
                <a:spcPts val="3318"/>
              </a:lnSpc>
              <a:buFont typeface="Arial"/>
              <a:buChar char="•"/>
            </a:pPr>
            <a:r>
              <a:rPr lang="en-US" sz="237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</a:t>
            </a:r>
            <a:r>
              <a:rPr lang="en-US" sz="2370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ntegrate sentiment into stock price prediction</a:t>
            </a:r>
          </a:p>
          <a:p>
            <a:pPr algn="just">
              <a:lnSpc>
                <a:spcPts val="3318"/>
              </a:lnSpc>
            </a:pPr>
          </a:p>
          <a:p>
            <a:pPr algn="just">
              <a:lnSpc>
                <a:spcPts val="331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8445" y="292718"/>
            <a:ext cx="7848159" cy="103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3"/>
              </a:lnSpc>
              <a:spcBef>
                <a:spcPct val="0"/>
              </a:spcBef>
            </a:pPr>
            <a:r>
              <a:rPr lang="en-US" b="true" sz="7556" strike="noStrike" u="non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Introduction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083838" y="4695915"/>
            <a:ext cx="6131190" cy="5591085"/>
          </a:xfrm>
          <a:custGeom>
            <a:avLst/>
            <a:gdLst/>
            <a:ahLst/>
            <a:cxnLst/>
            <a:rect r="r" b="b" t="t" l="l"/>
            <a:pathLst>
              <a:path h="5591085" w="6131190">
                <a:moveTo>
                  <a:pt x="0" y="0"/>
                </a:moveTo>
                <a:lnTo>
                  <a:pt x="6131190" y="0"/>
                </a:lnTo>
                <a:lnTo>
                  <a:pt x="6131190" y="5591085"/>
                </a:lnTo>
                <a:lnTo>
                  <a:pt x="0" y="5591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83838" y="0"/>
            <a:ext cx="6131190" cy="4998588"/>
          </a:xfrm>
          <a:custGeom>
            <a:avLst/>
            <a:gdLst/>
            <a:ahLst/>
            <a:cxnLst/>
            <a:rect r="r" b="b" t="t" l="l"/>
            <a:pathLst>
              <a:path h="4998588" w="6131190">
                <a:moveTo>
                  <a:pt x="0" y="0"/>
                </a:moveTo>
                <a:lnTo>
                  <a:pt x="6131190" y="0"/>
                </a:lnTo>
                <a:lnTo>
                  <a:pt x="6131190" y="4998588"/>
                </a:lnTo>
                <a:lnTo>
                  <a:pt x="0" y="4998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028" r="-1190" b="-651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83838" y="-91409"/>
            <a:ext cx="6131190" cy="5181406"/>
          </a:xfrm>
          <a:custGeom>
            <a:avLst/>
            <a:gdLst/>
            <a:ahLst/>
            <a:cxnLst/>
            <a:rect r="r" b="b" t="t" l="l"/>
            <a:pathLst>
              <a:path h="5181406" w="6131190">
                <a:moveTo>
                  <a:pt x="0" y="0"/>
                </a:moveTo>
                <a:lnTo>
                  <a:pt x="6131190" y="0"/>
                </a:lnTo>
                <a:lnTo>
                  <a:pt x="6131190" y="5181406"/>
                </a:lnTo>
                <a:lnTo>
                  <a:pt x="0" y="5181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003" r="0" b="-600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7983" y="114300"/>
            <a:ext cx="16772033" cy="102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3"/>
              </a:lnSpc>
              <a:spcBef>
                <a:spcPct val="0"/>
              </a:spcBef>
            </a:pPr>
            <a:r>
              <a:rPr lang="en-US" sz="7556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Data</a:t>
            </a:r>
            <a:r>
              <a:rPr lang="en-US" b="true" sz="7556" strike="noStrike" u="non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set Preparation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983" y="1612784"/>
            <a:ext cx="8715360" cy="347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7"/>
              </a:lnSpc>
            </a:pPr>
            <a:r>
              <a:rPr lang="en-US" sz="27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Dataset Source &amp; Statistics</a:t>
            </a:r>
          </a:p>
          <a:p>
            <a:pPr algn="just">
              <a:lnSpc>
                <a:spcPts val="3437"/>
              </a:lnSpc>
            </a:pPr>
          </a:p>
          <a:p>
            <a:pPr algn="just">
              <a:lnSpc>
                <a:spcPts val="3437"/>
              </a:lnSpc>
            </a:pPr>
            <a:r>
              <a:rPr lang="en-US" sz="24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Data Source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Kaggle Dataset: Tesla-related tweets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Raw tweet text and basic sentiment label (1–5 scale)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Clean sentiment labels generated using DistilBERT sentiment pipeline.</a:t>
            </a:r>
          </a:p>
          <a:p>
            <a:pPr algn="just">
              <a:lnSpc>
                <a:spcPts val="343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08861" y="-46044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284503" y="3850401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473344" y="4821913"/>
            <a:ext cx="8814656" cy="5465087"/>
          </a:xfrm>
          <a:custGeom>
            <a:avLst/>
            <a:gdLst/>
            <a:ahLst/>
            <a:cxnLst/>
            <a:rect r="r" b="b" t="t" l="l"/>
            <a:pathLst>
              <a:path h="5465087" w="8814656">
                <a:moveTo>
                  <a:pt x="0" y="0"/>
                </a:moveTo>
                <a:lnTo>
                  <a:pt x="8814656" y="0"/>
                </a:lnTo>
                <a:lnTo>
                  <a:pt x="8814656" y="5465087"/>
                </a:lnTo>
                <a:lnTo>
                  <a:pt x="0" y="5465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73344" y="436622"/>
            <a:ext cx="8814656" cy="4385292"/>
          </a:xfrm>
          <a:custGeom>
            <a:avLst/>
            <a:gdLst/>
            <a:ahLst/>
            <a:cxnLst/>
            <a:rect r="r" b="b" t="t" l="l"/>
            <a:pathLst>
              <a:path h="4385292" w="8814656">
                <a:moveTo>
                  <a:pt x="0" y="0"/>
                </a:moveTo>
                <a:lnTo>
                  <a:pt x="8814656" y="0"/>
                </a:lnTo>
                <a:lnTo>
                  <a:pt x="8814656" y="4385291"/>
                </a:lnTo>
                <a:lnTo>
                  <a:pt x="0" y="43852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5575681"/>
            <a:ext cx="6415080" cy="298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7"/>
              </a:lnSpc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📊 </a:t>
            </a:r>
            <a:r>
              <a:rPr lang="en-US" sz="24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Dataset Statistics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Total Tweets (original): ~10,000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After Cleaning + Filtering: 200 samples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Senti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ment score range: 0 to 100% (converted from probability scores)</a:t>
            </a:r>
          </a:p>
          <a:p>
            <a:pPr algn="just">
              <a:lnSpc>
                <a:spcPts val="3437"/>
              </a:lnSpc>
            </a:pPr>
          </a:p>
          <a:p>
            <a:pPr algn="just">
              <a:lnSpc>
                <a:spcPts val="343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7983" y="266485"/>
            <a:ext cx="16772033" cy="102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3"/>
              </a:lnSpc>
              <a:spcBef>
                <a:spcPct val="0"/>
              </a:spcBef>
            </a:pPr>
            <a:r>
              <a:rPr lang="en-US" sz="7556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Dataset </a:t>
            </a:r>
            <a:r>
              <a:rPr lang="en-US" b="true" sz="7556" strike="noStrike" u="non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Preparation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1836" y="1234842"/>
            <a:ext cx="8202164" cy="500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4"/>
              </a:lnSpc>
            </a:pPr>
            <a:r>
              <a:rPr lang="en-US" sz="2753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Preprocessing &amp; Word Cloud</a:t>
            </a:r>
          </a:p>
          <a:p>
            <a:pPr algn="just">
              <a:lnSpc>
                <a:spcPts val="3434"/>
              </a:lnSpc>
            </a:pPr>
            <a:r>
              <a:rPr lang="en-US" sz="245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🧼 </a:t>
            </a:r>
            <a:r>
              <a:rPr lang="en-US" sz="2453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Preprocessing Steps</a:t>
            </a:r>
          </a:p>
          <a:p>
            <a:pPr algn="just" marL="508095" indent="-254047" lvl="1">
              <a:lnSpc>
                <a:spcPts val="3294"/>
              </a:lnSpc>
              <a:buFont typeface="Arial"/>
              <a:buChar char="•"/>
            </a:pPr>
            <a:r>
              <a:rPr lang="en-US" sz="235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Removed:</a:t>
            </a:r>
          </a:p>
          <a:p>
            <a:pPr algn="just" marL="1016189" indent="-338730" lvl="2">
              <a:lnSpc>
                <a:spcPts val="3294"/>
              </a:lnSpc>
              <a:buFont typeface="Arial"/>
              <a:buChar char="⚬"/>
            </a:pPr>
            <a:r>
              <a:rPr lang="en-US" sz="235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URLs, emojis, mentions, hashtags</a:t>
            </a:r>
          </a:p>
          <a:p>
            <a:pPr algn="just" marL="1016189" indent="-338730" lvl="2">
              <a:lnSpc>
                <a:spcPts val="3294"/>
              </a:lnSpc>
              <a:buFont typeface="Arial"/>
              <a:buChar char="⚬"/>
            </a:pPr>
            <a:r>
              <a:rPr lang="en-US" sz="235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Special characters &amp; punctuation</a:t>
            </a:r>
          </a:p>
          <a:p>
            <a:pPr algn="just" marL="508095" indent="-254047" lvl="1">
              <a:lnSpc>
                <a:spcPts val="3294"/>
              </a:lnSpc>
              <a:buFont typeface="Arial"/>
              <a:buChar char="•"/>
            </a:pPr>
            <a:r>
              <a:rPr lang="en-US" sz="235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Convert to lowercase and cleaned whitespace</a:t>
            </a:r>
          </a:p>
          <a:p>
            <a:pPr algn="just" marL="508095" indent="-254047" lvl="1">
              <a:lnSpc>
                <a:spcPts val="3294"/>
              </a:lnSpc>
              <a:buFont typeface="Arial"/>
              <a:buChar char="•"/>
            </a:pPr>
            <a:r>
              <a:rPr lang="en-US" sz="235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Save cleaned tweets to clean_tweet column</a:t>
            </a:r>
          </a:p>
          <a:p>
            <a:pPr algn="just">
              <a:lnSpc>
                <a:spcPts val="3294"/>
              </a:lnSpc>
            </a:pPr>
          </a:p>
          <a:p>
            <a:pPr algn="just">
              <a:lnSpc>
                <a:spcPts val="3294"/>
              </a:lnSpc>
            </a:pPr>
            <a:r>
              <a:rPr lang="en-US" sz="235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☁️ </a:t>
            </a:r>
            <a:r>
              <a:rPr lang="en-US" sz="2353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Visualization</a:t>
            </a:r>
          </a:p>
          <a:p>
            <a:pPr algn="just" marL="508095" indent="-254047" lvl="1">
              <a:lnSpc>
                <a:spcPts val="3294"/>
              </a:lnSpc>
              <a:buFont typeface="Arial"/>
              <a:buChar char="•"/>
            </a:pPr>
            <a:r>
              <a:rPr lang="en-US" sz="235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Generated a word cloud from cleaned tweet text</a:t>
            </a:r>
          </a:p>
          <a:p>
            <a:pPr algn="just" marL="508095" indent="-254047" lvl="1">
              <a:lnSpc>
                <a:spcPts val="3294"/>
              </a:lnSpc>
              <a:buFont typeface="Arial"/>
              <a:buChar char="•"/>
            </a:pPr>
            <a:r>
              <a:rPr lang="en-US" sz="2353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Top words: Tesla, stock, Model, Elon, buy, FSD</a:t>
            </a:r>
          </a:p>
          <a:p>
            <a:pPr algn="just">
              <a:lnSpc>
                <a:spcPts val="329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08861" y="-46044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w="19050" cap="sq">
            <a:solidFill>
              <a:srgbClr val="000000">
                <a:alpha val="12941"/>
              </a:srgbClr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284503" y="3850401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5406390"/>
            <a:ext cx="9144000" cy="4880610"/>
          </a:xfrm>
          <a:custGeom>
            <a:avLst/>
            <a:gdLst/>
            <a:ahLst/>
            <a:cxnLst/>
            <a:rect r="r" b="b" t="t" l="l"/>
            <a:pathLst>
              <a:path h="4880610" w="9144000">
                <a:moveTo>
                  <a:pt x="0" y="0"/>
                </a:moveTo>
                <a:lnTo>
                  <a:pt x="9144000" y="0"/>
                </a:lnTo>
                <a:lnTo>
                  <a:pt x="9144000" y="4880610"/>
                </a:lnTo>
                <a:lnTo>
                  <a:pt x="0" y="48806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76643" y="6237289"/>
            <a:ext cx="6313811" cy="3951071"/>
          </a:xfrm>
          <a:custGeom>
            <a:avLst/>
            <a:gdLst/>
            <a:ahLst/>
            <a:cxnLst/>
            <a:rect r="r" b="b" t="t" l="l"/>
            <a:pathLst>
              <a:path h="3951071" w="6313811">
                <a:moveTo>
                  <a:pt x="0" y="0"/>
                </a:moveTo>
                <a:lnTo>
                  <a:pt x="6313811" y="0"/>
                </a:lnTo>
                <a:lnTo>
                  <a:pt x="6313811" y="3951071"/>
                </a:lnTo>
                <a:lnTo>
                  <a:pt x="0" y="39510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891819" y="1618250"/>
            <a:ext cx="8562763" cy="3414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7"/>
              </a:lnSpc>
            </a:pPr>
          </a:p>
          <a:p>
            <a:pPr algn="just">
              <a:lnSpc>
                <a:spcPts val="3437"/>
              </a:lnSpc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🔀</a:t>
            </a:r>
            <a:r>
              <a:rPr lang="en-US" sz="24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Train-Validation Split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dataset is randomly split after preprocessing:</a:t>
            </a:r>
          </a:p>
          <a:p>
            <a:pPr algn="just" marL="1060249" indent="-353416" lvl="2">
              <a:lnSpc>
                <a:spcPts val="3437"/>
              </a:lnSpc>
              <a:buFont typeface="Arial"/>
              <a:buChar char="⚬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80% (160 samples) for training</a:t>
            </a:r>
          </a:p>
          <a:p>
            <a:pPr algn="just" marL="1060249" indent="-353416" lvl="2">
              <a:lnSpc>
                <a:spcPts val="3437"/>
              </a:lnSpc>
              <a:buFont typeface="Arial"/>
              <a:buChar char="⚬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20% (40 samples) for validation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Ensures fair evaluation during fine-tuning</a:t>
            </a:r>
          </a:p>
          <a:p>
            <a:pPr algn="just">
              <a:lnSpc>
                <a:spcPts val="3437"/>
              </a:lnSpc>
            </a:pPr>
          </a:p>
          <a:p>
            <a:pPr algn="just">
              <a:lnSpc>
                <a:spcPts val="343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7983" y="312409"/>
            <a:ext cx="16772033" cy="102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3"/>
              </a:lnSpc>
              <a:spcBef>
                <a:spcPct val="0"/>
              </a:spcBef>
            </a:pPr>
            <a:r>
              <a:rPr lang="en-US" sz="7556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Mod</a:t>
            </a:r>
            <a:r>
              <a:rPr lang="en-US" b="true" sz="7556" strike="noStrike" u="non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el Implementation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7903" y="1290291"/>
            <a:ext cx="10217856" cy="8973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🧠 </a:t>
            </a:r>
            <a:r>
              <a:rPr lang="en-US" sz="2228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Base Model: LLaMA-2 7B (meta-llama/Llama-2-7b-hf)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Causal Language Model loaded using Hugging Face Transformers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Ideal for text generation and instruction-based fine-tuning</a:t>
            </a:r>
          </a:p>
          <a:p>
            <a:pPr algn="just">
              <a:lnSpc>
                <a:spcPts val="3119"/>
              </a:lnSpc>
            </a:pP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🧪 </a:t>
            </a:r>
            <a:r>
              <a:rPr lang="en-US" sz="2228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Quantized Loading with bitsandbytes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Loaded in 4-bit precision (NF4) for memory efficiency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Enables training within Google Colab GPU limits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Uses compute dtype: torch.float16</a:t>
            </a:r>
          </a:p>
          <a:p>
            <a:pPr algn="just">
              <a:lnSpc>
                <a:spcPts val="3119"/>
              </a:lnSpc>
            </a:pP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🧩 </a:t>
            </a:r>
            <a:r>
              <a:rPr lang="en-US" sz="2228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LoRA Adapter Injection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Injected into attention layers: q_proj and v_proj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Config: Rank = 8, Alpha = 16, Dropout = 0.05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Only adapter layers are trainable — base model remains frozen</a:t>
            </a:r>
          </a:p>
          <a:p>
            <a:pPr algn="just">
              <a:lnSpc>
                <a:spcPts val="3119"/>
              </a:lnSpc>
            </a:pP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📝</a:t>
            </a:r>
            <a:r>
              <a:rPr lang="en-US" sz="2228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Tokenizer Configuration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Loaded using AutoTokenizer.from_pretrained()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Max sequence length = 512 tokens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Handles truncation and padding consistently across all samples</a:t>
            </a:r>
          </a:p>
          <a:p>
            <a:pPr algn="just">
              <a:lnSpc>
                <a:spcPts val="3119"/>
              </a:lnSpc>
            </a:pPr>
          </a:p>
          <a:p>
            <a:pPr algn="just">
              <a:lnSpc>
                <a:spcPts val="3119"/>
              </a:lnSpc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💻</a:t>
            </a:r>
            <a:r>
              <a:rPr lang="en-US" sz="2228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Hardware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Trained on Google Colab T4 GPU</a:t>
            </a:r>
          </a:p>
          <a:p>
            <a:pPr algn="just" marL="481136" indent="-240568" lvl="1">
              <a:lnSpc>
                <a:spcPts val="3119"/>
              </a:lnSpc>
              <a:buFont typeface="Arial"/>
              <a:buChar char="•"/>
            </a:pPr>
            <a:r>
              <a:rPr lang="en-US" sz="2228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Memory-efficient setup allows smooth training in limited environments</a:t>
            </a:r>
          </a:p>
          <a:p>
            <a:pPr algn="just">
              <a:lnSpc>
                <a:spcPts val="311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08861" y="-46044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284503" y="3850401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378440" y="0"/>
            <a:ext cx="5909560" cy="5009358"/>
          </a:xfrm>
          <a:custGeom>
            <a:avLst/>
            <a:gdLst/>
            <a:ahLst/>
            <a:cxnLst/>
            <a:rect r="r" b="b" t="t" l="l"/>
            <a:pathLst>
              <a:path h="5009358" w="5909560">
                <a:moveTo>
                  <a:pt x="0" y="0"/>
                </a:moveTo>
                <a:lnTo>
                  <a:pt x="5909560" y="0"/>
                </a:lnTo>
                <a:lnTo>
                  <a:pt x="5909560" y="5009358"/>
                </a:lnTo>
                <a:lnTo>
                  <a:pt x="0" y="50093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78440" y="5009358"/>
            <a:ext cx="5909560" cy="5169622"/>
          </a:xfrm>
          <a:custGeom>
            <a:avLst/>
            <a:gdLst/>
            <a:ahLst/>
            <a:cxnLst/>
            <a:rect r="r" b="b" t="t" l="l"/>
            <a:pathLst>
              <a:path h="5169622" w="5909560">
                <a:moveTo>
                  <a:pt x="0" y="0"/>
                </a:moveTo>
                <a:lnTo>
                  <a:pt x="5909560" y="0"/>
                </a:lnTo>
                <a:lnTo>
                  <a:pt x="5909560" y="5169622"/>
                </a:lnTo>
                <a:lnTo>
                  <a:pt x="0" y="51696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631" t="0" r="-13631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68296"/>
            <a:ext cx="16772033" cy="102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3"/>
              </a:lnSpc>
              <a:spcBef>
                <a:spcPct val="0"/>
              </a:spcBef>
            </a:pPr>
            <a:r>
              <a:rPr lang="en-US" sz="7556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Training</a:t>
            </a:r>
            <a:r>
              <a:rPr lang="en-US" b="true" sz="7556" strike="noStrike" u="non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 &amp; Fine-Tuning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5936" y="1672995"/>
            <a:ext cx="7030826" cy="3414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7"/>
              </a:lnSpc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🛠️ </a:t>
            </a:r>
            <a:r>
              <a:rPr lang="en-US" sz="24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Training Progress Overview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Model trained for 10 epochs using the Hugging Face Trainer API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Batch size: 2 | Evaluation performed after each epoch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Mixed precision (fp16) enabled for faster training on GPU</a:t>
            </a:r>
          </a:p>
          <a:p>
            <a:pPr algn="just">
              <a:lnSpc>
                <a:spcPts val="343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08861" y="-46044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284503" y="3850401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11292" y="5587780"/>
            <a:ext cx="6540114" cy="4687933"/>
          </a:xfrm>
          <a:custGeom>
            <a:avLst/>
            <a:gdLst/>
            <a:ahLst/>
            <a:cxnLst/>
            <a:rect r="r" b="b" t="t" l="l"/>
            <a:pathLst>
              <a:path h="4687933" w="6540114">
                <a:moveTo>
                  <a:pt x="0" y="0"/>
                </a:moveTo>
                <a:lnTo>
                  <a:pt x="6540114" y="0"/>
                </a:lnTo>
                <a:lnTo>
                  <a:pt x="6540114" y="4687933"/>
                </a:lnTo>
                <a:lnTo>
                  <a:pt x="0" y="46879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86121" y="5041929"/>
            <a:ext cx="9201879" cy="5245071"/>
          </a:xfrm>
          <a:custGeom>
            <a:avLst/>
            <a:gdLst/>
            <a:ahLst/>
            <a:cxnLst/>
            <a:rect r="r" b="b" t="t" l="l"/>
            <a:pathLst>
              <a:path h="5245071" w="9201879">
                <a:moveTo>
                  <a:pt x="0" y="0"/>
                </a:moveTo>
                <a:lnTo>
                  <a:pt x="9201879" y="0"/>
                </a:lnTo>
                <a:lnTo>
                  <a:pt x="9201879" y="5245071"/>
                </a:lnTo>
                <a:lnTo>
                  <a:pt x="0" y="52450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086121" y="1887308"/>
            <a:ext cx="8066288" cy="298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7"/>
              </a:lnSpc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📊 </a:t>
            </a:r>
            <a:r>
              <a:rPr lang="en-US" sz="24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Loss Curves &amp; Convergence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Training loss decreased steadily from 7.31 → 0.85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Validation loss dropped from 9.34 → 1.28, indicating strong generalization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Minimal overfitting observed — validation loss remains closely aligned with training loss</a:t>
            </a:r>
          </a:p>
          <a:p>
            <a:pPr algn="just">
              <a:lnSpc>
                <a:spcPts val="343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7983" y="312409"/>
            <a:ext cx="16772033" cy="102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3"/>
              </a:lnSpc>
              <a:spcBef>
                <a:spcPct val="0"/>
              </a:spcBef>
            </a:pPr>
            <a:r>
              <a:rPr lang="en-US" sz="7556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Evaluation on Live Data &amp;</a:t>
            </a:r>
            <a:r>
              <a:rPr lang="en-US" b="true" sz="7556" strike="noStrike" u="non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 Visualization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983" y="1470371"/>
            <a:ext cx="8972052" cy="888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7"/>
              </a:lnSpc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📰</a:t>
            </a:r>
            <a:r>
              <a:rPr lang="en-US" sz="24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Live News Overview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Tesla-related news articles were f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c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ed using NewsAPI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rticles are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u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se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d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to 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te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s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 g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en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alizati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o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n of the fine-tuned model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Texts were cleaned, truncated, and analyzed before inference</a:t>
            </a:r>
          </a:p>
          <a:p>
            <a:pPr algn="just">
              <a:lnSpc>
                <a:spcPts val="3437"/>
              </a:lnSpc>
            </a:pPr>
          </a:p>
          <a:p>
            <a:pPr algn="just">
              <a:lnSpc>
                <a:spcPts val="3437"/>
              </a:lnSpc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📈</a:t>
            </a:r>
            <a:r>
              <a:rPr lang="en-US" sz="24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Article Length Distribution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bar chart shows the word count of each article used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Lengths vary significantly, ranging from under 300 words to over 1000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Truncation ensures consistency before tokenization</a:t>
            </a:r>
          </a:p>
          <a:p>
            <a:pPr algn="just">
              <a:lnSpc>
                <a:spcPts val="3437"/>
              </a:lnSpc>
            </a:pPr>
          </a:p>
          <a:p>
            <a:pPr algn="just">
              <a:lnSpc>
                <a:spcPts val="3437"/>
              </a:lnSpc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☁️ </a:t>
            </a:r>
            <a:r>
              <a:rPr lang="en-US" sz="24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Word Cloud of Article Content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Wo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rd cloud generated from the combined content of al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l 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articles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Highlights top terms like: Tesla, Musk, Cybertruck, Trump, Apple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Offers insight into current themes in Tesla-related discussions</a:t>
            </a:r>
          </a:p>
          <a:p>
            <a:pPr algn="just">
              <a:lnSpc>
                <a:spcPts val="259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08861" y="-46044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284503" y="3850401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968875" y="1677491"/>
            <a:ext cx="8319125" cy="4138765"/>
          </a:xfrm>
          <a:custGeom>
            <a:avLst/>
            <a:gdLst/>
            <a:ahLst/>
            <a:cxnLst/>
            <a:rect r="r" b="b" t="t" l="l"/>
            <a:pathLst>
              <a:path h="4138765" w="8319125">
                <a:moveTo>
                  <a:pt x="0" y="0"/>
                </a:moveTo>
                <a:lnTo>
                  <a:pt x="8319125" y="0"/>
                </a:lnTo>
                <a:lnTo>
                  <a:pt x="8319125" y="4138764"/>
                </a:lnTo>
                <a:lnTo>
                  <a:pt x="0" y="41387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31468" y="5816255"/>
            <a:ext cx="8356532" cy="4470745"/>
          </a:xfrm>
          <a:custGeom>
            <a:avLst/>
            <a:gdLst/>
            <a:ahLst/>
            <a:cxnLst/>
            <a:rect r="r" b="b" t="t" l="l"/>
            <a:pathLst>
              <a:path h="4470745" w="8356532">
                <a:moveTo>
                  <a:pt x="0" y="0"/>
                </a:moveTo>
                <a:lnTo>
                  <a:pt x="8356532" y="0"/>
                </a:lnTo>
                <a:lnTo>
                  <a:pt x="8356532" y="4470745"/>
                </a:lnTo>
                <a:lnTo>
                  <a:pt x="0" y="44707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7983" y="312409"/>
            <a:ext cx="16772033" cy="102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3"/>
              </a:lnSpc>
              <a:spcBef>
                <a:spcPct val="0"/>
              </a:spcBef>
            </a:pPr>
            <a:r>
              <a:rPr lang="en-US" sz="7556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Evaluation on Live Data &amp;</a:t>
            </a:r>
            <a:r>
              <a:rPr lang="en-US" b="true" sz="7556" strike="noStrike" u="non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 Visualization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983" y="1155231"/>
            <a:ext cx="8928164" cy="935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7"/>
              </a:lnSpc>
            </a:pPr>
            <a:r>
              <a:rPr lang="en-US" sz="26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Sentiment Prediction Results (Live Articles)</a:t>
            </a:r>
          </a:p>
          <a:p>
            <a:pPr algn="just">
              <a:lnSpc>
                <a:spcPts val="3437"/>
              </a:lnSpc>
            </a:pPr>
          </a:p>
          <a:p>
            <a:pPr algn="just">
              <a:lnSpc>
                <a:spcPts val="3437"/>
              </a:lnSpc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📄 </a:t>
            </a:r>
            <a:r>
              <a:rPr lang="en-US" sz="24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Predict</a:t>
            </a:r>
            <a:r>
              <a:rPr lang="en-US" sz="24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ed vs. Actual Sentiment Scores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table summarizes model predictions across 8 real-world Tesl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-re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l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ate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d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ti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cl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es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ach row shows:</a:t>
            </a:r>
          </a:p>
          <a:p>
            <a:pPr algn="just" marL="1060249" indent="-353416" lvl="2">
              <a:lnSpc>
                <a:spcPts val="3437"/>
              </a:lnSpc>
              <a:buFont typeface="Arial"/>
              <a:buChar char="⚬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D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at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e,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short text snippet</a:t>
            </a:r>
          </a:p>
          <a:p>
            <a:pPr algn="just" marL="1060249" indent="-353416" lvl="2">
              <a:lnSpc>
                <a:spcPts val="3437"/>
              </a:lnSpc>
              <a:buFont typeface="Arial"/>
              <a:buChar char="⚬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Model’s predicted sentiment (0–100)</a:t>
            </a:r>
          </a:p>
          <a:p>
            <a:pPr algn="just" marL="1060249" indent="-353416" lvl="2">
              <a:lnSpc>
                <a:spcPts val="3437"/>
              </a:lnSpc>
              <a:buFont typeface="Arial"/>
              <a:buChar char="⚬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Reference sentiment (from DistilBERT)</a:t>
            </a:r>
          </a:p>
          <a:p>
            <a:pPr algn="just" marL="1060249" indent="-353416" lvl="2">
              <a:lnSpc>
                <a:spcPts val="3437"/>
              </a:lnSpc>
              <a:buFont typeface="Arial"/>
              <a:buChar char="⚬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Calculated loss per sample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Most predictions fall close to the true values, with losses generally under 1.0</a:t>
            </a:r>
          </a:p>
          <a:p>
            <a:pPr algn="just">
              <a:lnSpc>
                <a:spcPts val="3437"/>
              </a:lnSpc>
            </a:pPr>
          </a:p>
          <a:p>
            <a:pPr algn="just">
              <a:lnSpc>
                <a:spcPts val="3437"/>
              </a:lnSpc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🔍 </a:t>
            </a:r>
            <a:r>
              <a:rPr lang="en-US" sz="24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Detailed Evaluation – Article #7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Example: Article mentioni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n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g El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on M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usk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n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d Trump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Model predicted a score of 40, while actual sentiment was 1.93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Full</a:t>
            </a: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prompt and model-generated response are shown for transparency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Even when content is nuanced, the model attempts to contextualize sentiment</a:t>
            </a:r>
          </a:p>
          <a:p>
            <a:pPr algn="just">
              <a:lnSpc>
                <a:spcPts val="259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08861" y="-46044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284503" y="3850401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960006" y="6709443"/>
            <a:ext cx="8426388" cy="3374967"/>
          </a:xfrm>
          <a:custGeom>
            <a:avLst/>
            <a:gdLst/>
            <a:ahLst/>
            <a:cxnLst/>
            <a:rect r="r" b="b" t="t" l="l"/>
            <a:pathLst>
              <a:path h="3374967" w="8426388">
                <a:moveTo>
                  <a:pt x="0" y="0"/>
                </a:moveTo>
                <a:lnTo>
                  <a:pt x="8426388" y="0"/>
                </a:lnTo>
                <a:lnTo>
                  <a:pt x="8426388" y="3374967"/>
                </a:lnTo>
                <a:lnTo>
                  <a:pt x="0" y="33749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41600" y="3226807"/>
            <a:ext cx="8446400" cy="2628942"/>
          </a:xfrm>
          <a:custGeom>
            <a:avLst/>
            <a:gdLst/>
            <a:ahLst/>
            <a:cxnLst/>
            <a:rect r="r" b="b" t="t" l="l"/>
            <a:pathLst>
              <a:path h="2628942" w="8446400">
                <a:moveTo>
                  <a:pt x="0" y="0"/>
                </a:moveTo>
                <a:lnTo>
                  <a:pt x="8446400" y="0"/>
                </a:lnTo>
                <a:lnTo>
                  <a:pt x="8446400" y="2628942"/>
                </a:lnTo>
                <a:lnTo>
                  <a:pt x="0" y="26289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7903" y="312409"/>
            <a:ext cx="16952114" cy="102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3"/>
              </a:lnSpc>
              <a:spcBef>
                <a:spcPct val="0"/>
              </a:spcBef>
            </a:pPr>
            <a:r>
              <a:rPr lang="en-US" sz="7556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Evaluation on Live Data &amp;</a:t>
            </a:r>
            <a:r>
              <a:rPr lang="en-US" b="true" sz="7556" strike="noStrike" u="non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 Visualization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7903" y="2009775"/>
            <a:ext cx="9619920" cy="434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7"/>
              </a:lnSpc>
            </a:pPr>
            <a:r>
              <a:rPr lang="en-US" sz="26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📊 </a:t>
            </a:r>
            <a:r>
              <a:rPr lang="en-US" sz="26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Model Performance Overview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bar chart shows final loss comparison:</a:t>
            </a:r>
          </a:p>
          <a:p>
            <a:pPr algn="just" marL="1060249" indent="-353416" lvl="2">
              <a:lnSpc>
                <a:spcPts val="3437"/>
              </a:lnSpc>
              <a:buFont typeface="Arial"/>
              <a:buChar char="⚬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Training Loss: ~0.85</a:t>
            </a:r>
          </a:p>
          <a:p>
            <a:pPr algn="just" marL="1060249" indent="-353416" lvl="2">
              <a:lnSpc>
                <a:spcPts val="3437"/>
              </a:lnSpc>
              <a:buFont typeface="Arial"/>
              <a:buChar char="⚬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Validation Loss: ~1.28</a:t>
            </a:r>
          </a:p>
          <a:p>
            <a:pPr algn="just" marL="1060249" indent="-353416" lvl="2">
              <a:lnSpc>
                <a:spcPts val="3437"/>
              </a:lnSpc>
              <a:buFont typeface="Arial"/>
              <a:buChar char="⚬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 Test Loss: ~1.02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model generalizes well to unseen data, with only a small increase from validation to test loss</a:t>
            </a:r>
          </a:p>
          <a:p>
            <a:pPr algn="just">
              <a:lnSpc>
                <a:spcPts val="3437"/>
              </a:lnSpc>
            </a:pPr>
          </a:p>
          <a:p>
            <a:pPr algn="just">
              <a:lnSpc>
                <a:spcPts val="3717"/>
              </a:lnSpc>
            </a:pPr>
          </a:p>
          <a:p>
            <a:pPr algn="just">
              <a:lnSpc>
                <a:spcPts val="343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01171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08861" y="-46044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284503" y="3850401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470151" y="5143500"/>
            <a:ext cx="6547729" cy="4832847"/>
          </a:xfrm>
          <a:custGeom>
            <a:avLst/>
            <a:gdLst/>
            <a:ahLst/>
            <a:cxnLst/>
            <a:rect r="r" b="b" t="t" l="l"/>
            <a:pathLst>
              <a:path h="4832847" w="6547729">
                <a:moveTo>
                  <a:pt x="0" y="0"/>
                </a:moveTo>
                <a:lnTo>
                  <a:pt x="6547729" y="0"/>
                </a:lnTo>
                <a:lnTo>
                  <a:pt x="6547729" y="4832847"/>
                </a:lnTo>
                <a:lnTo>
                  <a:pt x="0" y="48328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7903" y="312409"/>
            <a:ext cx="16952114" cy="102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3"/>
              </a:lnSpc>
              <a:spcBef>
                <a:spcPct val="0"/>
              </a:spcBef>
            </a:pPr>
            <a:r>
              <a:rPr lang="en-US" sz="7556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Evaluation on Live Data &amp;</a:t>
            </a:r>
            <a:r>
              <a:rPr lang="en-US" b="true" sz="7556" strike="noStrike" u="non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 Visualization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5273" y="1731783"/>
            <a:ext cx="5883253" cy="524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7"/>
              </a:lnSpc>
            </a:pPr>
            <a:r>
              <a:rPr lang="en-US" sz="27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🧠 </a:t>
            </a:r>
            <a:r>
              <a:rPr lang="en-US" sz="2755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Demo – Sentiment Inference on      Custom Input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fine-tuned LLaMA-2 model was tested with user inputs:</a:t>
            </a:r>
          </a:p>
          <a:p>
            <a:pPr algn="just" marL="1060249" indent="-353416" lvl="2">
              <a:lnSpc>
                <a:spcPts val="3437"/>
              </a:lnSpc>
              <a:buFont typeface="Arial"/>
              <a:buChar char="⚬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🔴 "I hate the new Tesla model!" → Predicted Score: 10.0</a:t>
            </a:r>
          </a:p>
          <a:p>
            <a:pPr algn="just" marL="1060249" indent="-353416" lvl="2">
              <a:lnSpc>
                <a:spcPts val="3437"/>
              </a:lnSpc>
              <a:buFont typeface="Arial"/>
              <a:buChar char="⚬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🟢 "I love the new Tesla model!" → Predicted Score: 90.0</a:t>
            </a:r>
          </a:p>
          <a:p>
            <a:pPr algn="just" marL="530125" indent="-265062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Model successfully captures emotional polarity and outputs clean, numeric sentiment scores</a:t>
            </a:r>
          </a:p>
          <a:p>
            <a:pPr algn="just">
              <a:lnSpc>
                <a:spcPts val="343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01171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08861" y="-46044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284503" y="3850401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652821" y="3141010"/>
            <a:ext cx="10363043" cy="3031190"/>
          </a:xfrm>
          <a:custGeom>
            <a:avLst/>
            <a:gdLst/>
            <a:ahLst/>
            <a:cxnLst/>
            <a:rect r="r" b="b" t="t" l="l"/>
            <a:pathLst>
              <a:path h="3031190" w="10363043">
                <a:moveTo>
                  <a:pt x="0" y="0"/>
                </a:moveTo>
                <a:lnTo>
                  <a:pt x="10363043" y="0"/>
                </a:lnTo>
                <a:lnTo>
                  <a:pt x="10363043" y="3031190"/>
                </a:lnTo>
                <a:lnTo>
                  <a:pt x="0" y="30311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52821" y="7213462"/>
            <a:ext cx="10363043" cy="2979375"/>
          </a:xfrm>
          <a:custGeom>
            <a:avLst/>
            <a:gdLst/>
            <a:ahLst/>
            <a:cxnLst/>
            <a:rect r="r" b="b" t="t" l="l"/>
            <a:pathLst>
              <a:path h="2979375" w="10363043">
                <a:moveTo>
                  <a:pt x="0" y="0"/>
                </a:moveTo>
                <a:lnTo>
                  <a:pt x="10363043" y="0"/>
                </a:lnTo>
                <a:lnTo>
                  <a:pt x="10363043" y="2979375"/>
                </a:lnTo>
                <a:lnTo>
                  <a:pt x="0" y="29793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7983" y="312409"/>
            <a:ext cx="12562656" cy="102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3"/>
              </a:lnSpc>
              <a:spcBef>
                <a:spcPct val="0"/>
              </a:spcBef>
            </a:pPr>
            <a:r>
              <a:rPr lang="en-US" sz="7556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Conclusion &amp;</a:t>
            </a:r>
            <a:r>
              <a:rPr lang="en-US" b="true" sz="7556" strike="noStrike" u="non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 Future 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7128" y="1384594"/>
            <a:ext cx="7708196" cy="521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1"/>
              </a:lnSpc>
            </a:pPr>
            <a:r>
              <a:rPr lang="en-US" sz="2694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✅ Conclusion</a:t>
            </a:r>
          </a:p>
          <a:p>
            <a:pPr algn="just" marL="495298" indent="-247649" lvl="1">
              <a:lnSpc>
                <a:spcPts val="3211"/>
              </a:lnSpc>
              <a:buFont typeface="Arial"/>
              <a:buChar char="•"/>
            </a:pPr>
            <a:r>
              <a:rPr lang="en-US" sz="229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 4-bit quantized LLaMA-2 model was fine-tuned using LoRA on Tesla tweet data</a:t>
            </a:r>
          </a:p>
          <a:p>
            <a:pPr algn="just" marL="495298" indent="-247649" lvl="1">
              <a:lnSpc>
                <a:spcPts val="3211"/>
              </a:lnSpc>
              <a:buFont typeface="Arial"/>
              <a:buChar char="•"/>
            </a:pPr>
            <a:r>
              <a:rPr lang="en-US" sz="229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Sentiment labels were generated using DistilBERT to create precise 0–100% targets</a:t>
            </a:r>
          </a:p>
          <a:p>
            <a:pPr algn="just" marL="495298" indent="-247649" lvl="1">
              <a:lnSpc>
                <a:spcPts val="3211"/>
              </a:lnSpc>
              <a:buFont typeface="Arial"/>
              <a:buChar char="•"/>
            </a:pPr>
            <a:r>
              <a:rPr lang="en-US" sz="229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The model demonstrated strong learning, with low training, validation, and test losses</a:t>
            </a:r>
          </a:p>
          <a:p>
            <a:pPr algn="just" marL="495298" indent="-247649" lvl="1">
              <a:lnSpc>
                <a:spcPts val="3211"/>
              </a:lnSpc>
              <a:buFont typeface="Arial"/>
              <a:buChar char="•"/>
            </a:pPr>
            <a:r>
              <a:rPr lang="en-US" sz="229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Live evaluation on NewsAPI articles showed the model’s ability to generalize</a:t>
            </a:r>
          </a:p>
          <a:p>
            <a:pPr algn="just" marL="495298" indent="-247649" lvl="1">
              <a:lnSpc>
                <a:spcPts val="3211"/>
              </a:lnSpc>
              <a:buFont typeface="Arial"/>
              <a:buChar char="•"/>
            </a:pPr>
            <a:r>
              <a:rPr lang="en-US" sz="229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A working sentiment analyzer interface successfully predicted sentiment from real-time user input</a:t>
            </a:r>
          </a:p>
          <a:p>
            <a:pPr algn="just">
              <a:lnSpc>
                <a:spcPts val="2791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008861" y="-460443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1"/>
                </a:lnTo>
                <a:lnTo>
                  <a:pt x="0" y="81626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284503" y="3850401"/>
            <a:ext cx="6500878" cy="8162692"/>
          </a:xfrm>
          <a:custGeom>
            <a:avLst/>
            <a:gdLst/>
            <a:ahLst/>
            <a:cxnLst/>
            <a:rect r="r" b="b" t="t" l="l"/>
            <a:pathLst>
              <a:path h="8162692" w="6500878">
                <a:moveTo>
                  <a:pt x="0" y="0"/>
                </a:moveTo>
                <a:lnTo>
                  <a:pt x="6500878" y="0"/>
                </a:lnTo>
                <a:lnTo>
                  <a:pt x="6500878" y="8162692"/>
                </a:lnTo>
                <a:lnTo>
                  <a:pt x="0" y="81626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203909" y="512898"/>
            <a:ext cx="4774533" cy="4100267"/>
          </a:xfrm>
          <a:custGeom>
            <a:avLst/>
            <a:gdLst/>
            <a:ahLst/>
            <a:cxnLst/>
            <a:rect r="r" b="b" t="t" l="l"/>
            <a:pathLst>
              <a:path h="4100267" w="4774533">
                <a:moveTo>
                  <a:pt x="0" y="0"/>
                </a:moveTo>
                <a:lnTo>
                  <a:pt x="4774533" y="0"/>
                </a:lnTo>
                <a:lnTo>
                  <a:pt x="4774533" y="4100267"/>
                </a:lnTo>
                <a:lnTo>
                  <a:pt x="0" y="4100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301570" y="5499684"/>
            <a:ext cx="8676872" cy="4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2"/>
              </a:lnSpc>
            </a:pPr>
            <a:r>
              <a:rPr lang="en-US" sz="2644" b="true">
                <a:solidFill>
                  <a:srgbClr val="004AA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🔭 Future Work</a:t>
            </a:r>
          </a:p>
          <a:p>
            <a:pPr algn="just" marL="484632" indent="-242316" lvl="1">
              <a:lnSpc>
                <a:spcPts val="3142"/>
              </a:lnSpc>
              <a:buFont typeface="Arial"/>
              <a:buChar char="•"/>
            </a:pPr>
            <a:r>
              <a:rPr lang="en-US" sz="224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💬 Fine-tune further using instruction-tuning data to reduce response drift</a:t>
            </a:r>
          </a:p>
          <a:p>
            <a:pPr algn="just" marL="484632" indent="-242316" lvl="1">
              <a:lnSpc>
                <a:spcPts val="3142"/>
              </a:lnSpc>
              <a:buFont typeface="Arial"/>
              <a:buChar char="•"/>
            </a:pPr>
            <a:r>
              <a:rPr lang="en-US" sz="224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📈 Integrate with Tesla stock movement data to correlate sentiment with price trends</a:t>
            </a:r>
          </a:p>
          <a:p>
            <a:pPr algn="just" marL="484632" indent="-242316" lvl="1">
              <a:lnSpc>
                <a:spcPts val="3142"/>
              </a:lnSpc>
              <a:buFont typeface="Arial"/>
              <a:buChar char="•"/>
            </a:pPr>
            <a:r>
              <a:rPr lang="en-US" sz="224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🌐 Expand data sources beyond Twitter and NewsAPI (e.g., Reddit, blogs)</a:t>
            </a:r>
          </a:p>
          <a:p>
            <a:pPr algn="just" marL="484632" indent="-242316" lvl="1">
              <a:lnSpc>
                <a:spcPts val="3142"/>
              </a:lnSpc>
              <a:buFont typeface="Arial"/>
              <a:buChar char="•"/>
            </a:pPr>
            <a:r>
              <a:rPr lang="en-US" sz="2244">
                <a:solidFill>
                  <a:srgbClr val="004AAD"/>
                </a:solidFill>
                <a:latin typeface="Be Vietnam"/>
                <a:ea typeface="Be Vietnam"/>
                <a:cs typeface="Be Vietnam"/>
                <a:sym typeface="Be Vietnam"/>
              </a:rPr>
              <a:t>🚀 Deploy the model in a Streamlit dashboard or integrate into real-time monitoring systems</a:t>
            </a:r>
          </a:p>
          <a:p>
            <a:pPr algn="just">
              <a:lnSpc>
                <a:spcPts val="3142"/>
              </a:lnSpc>
            </a:pPr>
          </a:p>
          <a:p>
            <a:pPr algn="just">
              <a:lnSpc>
                <a:spcPts val="3142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94164" y="1954516"/>
            <a:ext cx="8624345" cy="8624345"/>
          </a:xfrm>
          <a:custGeom>
            <a:avLst/>
            <a:gdLst/>
            <a:ahLst/>
            <a:cxnLst/>
            <a:rect r="r" b="b" t="t" l="l"/>
            <a:pathLst>
              <a:path h="8624345" w="8624345">
                <a:moveTo>
                  <a:pt x="0" y="0"/>
                </a:moveTo>
                <a:lnTo>
                  <a:pt x="8624345" y="0"/>
                </a:lnTo>
                <a:lnTo>
                  <a:pt x="8624345" y="8624345"/>
                </a:lnTo>
                <a:lnTo>
                  <a:pt x="0" y="86243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-1817135">
            <a:off x="13336537" y="3828987"/>
            <a:ext cx="4489165" cy="9311258"/>
          </a:xfrm>
          <a:custGeom>
            <a:avLst/>
            <a:gdLst/>
            <a:ahLst/>
            <a:cxnLst/>
            <a:rect r="r" b="b" t="t" l="l"/>
            <a:pathLst>
              <a:path h="9311258" w="4489165">
                <a:moveTo>
                  <a:pt x="4489165" y="0"/>
                </a:moveTo>
                <a:lnTo>
                  <a:pt x="0" y="0"/>
                </a:lnTo>
                <a:lnTo>
                  <a:pt x="0" y="9311258"/>
                </a:lnTo>
                <a:lnTo>
                  <a:pt x="4489165" y="9311258"/>
                </a:lnTo>
                <a:lnTo>
                  <a:pt x="4489165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186569" y="-483186"/>
            <a:ext cx="8624345" cy="8624345"/>
          </a:xfrm>
          <a:custGeom>
            <a:avLst/>
            <a:gdLst/>
            <a:ahLst/>
            <a:cxnLst/>
            <a:rect r="r" b="b" t="t" l="l"/>
            <a:pathLst>
              <a:path h="8624345" w="8624345">
                <a:moveTo>
                  <a:pt x="0" y="0"/>
                </a:moveTo>
                <a:lnTo>
                  <a:pt x="8624345" y="0"/>
                </a:lnTo>
                <a:lnTo>
                  <a:pt x="8624345" y="8624346"/>
                </a:lnTo>
                <a:lnTo>
                  <a:pt x="0" y="86243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896453" y="3576692"/>
            <a:ext cx="7606075" cy="1359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20"/>
              </a:lnSpc>
              <a:spcBef>
                <a:spcPct val="0"/>
              </a:spcBef>
            </a:pPr>
            <a:r>
              <a:rPr lang="en-US" b="true" sz="9922" strike="noStrike" u="none">
                <a:solidFill>
                  <a:srgbClr val="004AAD"/>
                </a:solidFill>
                <a:latin typeface="File"/>
                <a:ea typeface="File"/>
                <a:cs typeface="File"/>
                <a:sym typeface="File"/>
              </a:rPr>
              <a:t>Thank You!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88870" y="5067300"/>
            <a:ext cx="3541360" cy="70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97"/>
              </a:lnSpc>
            </a:pPr>
            <a:r>
              <a:rPr lang="en-US" b="true" sz="4141" i="true">
                <a:solidFill>
                  <a:srgbClr val="004AAD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By Ahkar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DAGkkG6we_0</dc:identifier>
  <dcterms:modified xsi:type="dcterms:W3CDTF">2011-08-01T06:04:30Z</dcterms:modified>
  <cp:revision>1</cp:revision>
  <dc:title> LLM-Based Sentiment Analysis </dc:title>
</cp:coreProperties>
</file>